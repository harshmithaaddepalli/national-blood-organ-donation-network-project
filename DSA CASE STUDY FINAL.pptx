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7" r:id="rId12"/>
    <p:sldId id="278" r:id="rId13"/>
    <p:sldId id="279" r:id="rId14"/>
    <p:sldId id="280" r:id="rId15"/>
    <p:sldId id="275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43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0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9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4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43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5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6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26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1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02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45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4190205-E839-4224-A3A6-A3000744675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DD61BF-7B39-49E9-9106-316A7F25543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23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34BC-22E7-0E2D-C15A-27A875C20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1384" y="1636988"/>
            <a:ext cx="10058400" cy="2796116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br>
              <a:rPr lang="en-IN" sz="4800" b="1" dirty="0">
                <a:solidFill>
                  <a:srgbClr val="032D6B"/>
                </a:solidFill>
                <a:latin typeface="Candera"/>
              </a:rPr>
            </a:br>
            <a:br>
              <a:rPr lang="en-IN" sz="4800" b="1" dirty="0">
                <a:solidFill>
                  <a:srgbClr val="032D6B"/>
                </a:solidFill>
                <a:latin typeface="Candera"/>
              </a:rPr>
            </a:br>
            <a:r>
              <a:rPr lang="en-IN" sz="4800" b="1" dirty="0">
                <a:solidFill>
                  <a:srgbClr val="032D6B"/>
                </a:solidFill>
                <a:latin typeface="Candera"/>
              </a:rPr>
              <a:t>24CSEN2001 : DATA STRUCTURES LAB</a:t>
            </a:r>
            <a:br>
              <a:rPr lang="en-IN" sz="4800" b="1" dirty="0">
                <a:solidFill>
                  <a:srgbClr val="032D6B"/>
                </a:solidFill>
                <a:latin typeface="Candera"/>
              </a:rPr>
            </a:br>
            <a:r>
              <a:rPr lang="en-IN" sz="5400" b="1" dirty="0">
                <a:solidFill>
                  <a:srgbClr val="032D6B"/>
                </a:solidFill>
                <a:latin typeface="Candera"/>
              </a:rPr>
              <a:t> </a:t>
            </a:r>
            <a:br>
              <a:rPr lang="en-IN" sz="4800" b="1" dirty="0">
                <a:solidFill>
                  <a:srgbClr val="032D6B"/>
                </a:solidFill>
                <a:latin typeface="Candera"/>
              </a:rPr>
            </a:br>
            <a:r>
              <a:rPr lang="en-IN" sz="4800" b="1" dirty="0"/>
              <a:t> </a:t>
            </a:r>
            <a:r>
              <a:rPr lang="en-IN" sz="4400" b="1" dirty="0">
                <a:latin typeface="Candara" panose="020E0502030303020204" pitchFamily="34" charset="0"/>
              </a:rPr>
              <a:t>CASE STUDY </a:t>
            </a:r>
            <a:br>
              <a:rPr lang="en-IN" sz="4400" b="1" dirty="0">
                <a:latin typeface="Candara" panose="020E0502030303020204" pitchFamily="34" charset="0"/>
              </a:rPr>
            </a:br>
            <a:endParaRPr lang="en-IN" sz="4800" b="1" dirty="0">
              <a:latin typeface="Candara" panose="020E05020303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0580D-C967-D166-9FF7-C213FD5AD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805919"/>
            <a:ext cx="10058400" cy="1415772"/>
          </a:xfrm>
        </p:spPr>
        <p:txBody>
          <a:bodyPr>
            <a:normAutofit/>
          </a:bodyPr>
          <a:lstStyle/>
          <a:p>
            <a:pPr algn="ctr"/>
            <a:endParaRPr lang="en-IN" sz="2800" b="1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algn="ctr"/>
            <a:endParaRPr lang="en-IN" sz="2800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26D31-EF5C-52A5-5A71-A5DA5514F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167" y="89950"/>
            <a:ext cx="1941235" cy="9188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2AA419-3F27-D2DA-AABF-AD4EEB590C62}"/>
              </a:ext>
            </a:extLst>
          </p:cNvPr>
          <p:cNvSpPr/>
          <p:nvPr/>
        </p:nvSpPr>
        <p:spPr>
          <a:xfrm>
            <a:off x="1382420" y="4713790"/>
            <a:ext cx="9776031" cy="141577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200" b="1" u="sng" dirty="0">
                <a:solidFill>
                  <a:schemeClr val="accent5">
                    <a:lumMod val="10000"/>
                  </a:schemeClr>
                </a:solidFill>
                <a:latin typeface="Candara" panose="020E0502030303020204" pitchFamily="34" charset="0"/>
              </a:rPr>
              <a:t>NATIONAL BLOOD AND ORGAN DONATION NETWORK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779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46BC-52AE-2AF7-39EB-56908D89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Number - 10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F70052-AEE2-0260-2411-59677DAC9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5489361"/>
              </p:ext>
            </p:extLst>
          </p:nvPr>
        </p:nvGraphicFramePr>
        <p:xfrm>
          <a:off x="1096963" y="1846263"/>
          <a:ext cx="10058400" cy="38192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32493961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937964812"/>
                    </a:ext>
                  </a:extLst>
                </a:gridCol>
              </a:tblGrid>
              <a:tr h="54560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REGISTRATION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NAME OF THE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508071"/>
                  </a:ext>
                </a:extLst>
              </a:tr>
              <a:tr h="545607"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54666"/>
                  </a:ext>
                </a:extLst>
              </a:tr>
              <a:tr h="54560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2024002556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BONDI VENKATA LIKHITA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486182"/>
                  </a:ext>
                </a:extLst>
              </a:tr>
              <a:tr h="545607"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2024040399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A.VENKATA GAYATHRI HARSHMITHA </a:t>
                      </a:r>
                      <a:endParaRPr lang="en-IN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432902"/>
                  </a:ext>
                </a:extLst>
              </a:tr>
              <a:tr h="545607"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2024109451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G.HASINI </a:t>
                      </a:r>
                      <a:endParaRPr lang="en-IN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75304"/>
                  </a:ext>
                </a:extLst>
              </a:tr>
              <a:tr h="545607"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2024113620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PEDDINA MOHITHA</a:t>
                      </a:r>
                      <a:endParaRPr lang="en-IN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64839"/>
                  </a:ext>
                </a:extLst>
              </a:tr>
              <a:tr h="545607"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2024131891 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BOTTA SNEHITHA </a:t>
                      </a:r>
                      <a:endParaRPr lang="en-IN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4572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973EE86-1213-0BFE-E75B-716C69B22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6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ECA4-C3DF-EB7E-6558-CFD02FAA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6F00-2734-9011-22EC-21F98F343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  The National Blood and Organ Donation Network</a:t>
            </a:r>
            <a:r>
              <a:rPr lang="en-US" dirty="0">
                <a:solidFill>
                  <a:schemeClr val="tx1"/>
                </a:solidFill>
              </a:rPr>
              <a:t> is an advanced digital platform designed to seamlessly connect </a:t>
            </a:r>
            <a:r>
              <a:rPr lang="en-US" b="1" dirty="0">
                <a:solidFill>
                  <a:schemeClr val="tx1"/>
                </a:solidFill>
              </a:rPr>
              <a:t>donors, recipients, and hospitals</a:t>
            </a:r>
            <a:r>
              <a:rPr lang="en-US" dirty="0">
                <a:solidFill>
                  <a:schemeClr val="tx1"/>
                </a:solidFill>
              </a:rPr>
              <a:t> in real time.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The system’s primary goal is to </a:t>
            </a:r>
            <a:r>
              <a:rPr lang="en-US" b="1" dirty="0">
                <a:solidFill>
                  <a:schemeClr val="tx1"/>
                </a:solidFill>
              </a:rPr>
              <a:t>minimize delays in finding compatible donors</a:t>
            </a:r>
            <a:r>
              <a:rPr lang="en-US" dirty="0">
                <a:solidFill>
                  <a:schemeClr val="tx1"/>
                </a:solidFill>
              </a:rPr>
              <a:t> and ensure </a:t>
            </a:r>
            <a:r>
              <a:rPr lang="en-US" b="1" dirty="0">
                <a:solidFill>
                  <a:schemeClr val="tx1"/>
                </a:solidFill>
              </a:rPr>
              <a:t>timely and life-saving medical interventions</a:t>
            </a:r>
            <a:r>
              <a:rPr lang="en-US" dirty="0">
                <a:solidFill>
                  <a:schemeClr val="tx1"/>
                </a:solidFill>
              </a:rPr>
              <a:t>. By integrating a </a:t>
            </a:r>
            <a:r>
              <a:rPr lang="en-US" b="1" dirty="0">
                <a:solidFill>
                  <a:schemeClr val="tx1"/>
                </a:solidFill>
              </a:rPr>
              <a:t>secure and centralized database</a:t>
            </a:r>
            <a:r>
              <a:rPr lang="en-US" dirty="0">
                <a:solidFill>
                  <a:schemeClr val="tx1"/>
                </a:solidFill>
              </a:rPr>
              <a:t>, it facilitates </a:t>
            </a:r>
            <a:r>
              <a:rPr lang="en-US" b="1" dirty="0">
                <a:solidFill>
                  <a:schemeClr val="tx1"/>
                </a:solidFill>
              </a:rPr>
              <a:t>donor registration, organ availability tracking, and blood stock management</a:t>
            </a:r>
            <a:r>
              <a:rPr lang="en-US" dirty="0">
                <a:solidFill>
                  <a:schemeClr val="tx1"/>
                </a:solidFill>
              </a:rPr>
              <a:t> across healthcare facilities.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 Through </a:t>
            </a:r>
            <a:r>
              <a:rPr lang="en-US" b="1" dirty="0">
                <a:solidFill>
                  <a:schemeClr val="tx1"/>
                </a:solidFill>
              </a:rPr>
              <a:t>efficient data management, real-time updates, and networked communication</a:t>
            </a:r>
            <a:r>
              <a:rPr lang="en-US" dirty="0">
                <a:solidFill>
                  <a:schemeClr val="tx1"/>
                </a:solidFill>
              </a:rPr>
              <a:t> between medical institutions, this system exemplifies how </a:t>
            </a:r>
            <a:r>
              <a:rPr lang="en-US" b="1" dirty="0">
                <a:solidFill>
                  <a:schemeClr val="tx1"/>
                </a:solidFill>
              </a:rPr>
              <a:t>technology can revolutionize healthcare and save countless lives</a:t>
            </a:r>
            <a:r>
              <a:rPr lang="en-US" dirty="0">
                <a:solidFill>
                  <a:schemeClr val="tx1"/>
                </a:solidFill>
              </a:rPr>
              <a:t> by streamlining the donation and transplantation process.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 This case study highlights how technology can save lives through efficient data management and network communication between healthcare institutions.</a:t>
            </a:r>
          </a:p>
          <a:p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4918E-BFC7-71E9-969C-ACE106DCE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4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821AC-C0F6-7716-02D0-4CD5491C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BDA8-8DC8-8685-8061-5098DA3B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5CA4-C7EE-EA10-5BF9-8263FB268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1386"/>
          </a:xfrm>
        </p:spPr>
        <p:txBody>
          <a:bodyPr>
            <a:normAutofit fontScale="92500" lnSpcReduction="20000"/>
          </a:bodyPr>
          <a:lstStyle/>
          <a:p>
            <a:endParaRPr lang="en-US" sz="2200" dirty="0"/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/>
              <a:t> The shortage of blood and organs is a major concern in the healthcare system.</a:t>
            </a:r>
            <a:br>
              <a:rPr lang="en-US" sz="2200" dirty="0"/>
            </a:br>
            <a:r>
              <a:rPr lang="en-US" sz="2200" dirty="0"/>
              <a:t>Many patients lose their lives due to delays in finding compatible donors.</a:t>
            </a:r>
            <a:br>
              <a:rPr lang="en-US" sz="2200" dirty="0"/>
            </a:br>
            <a:r>
              <a:rPr lang="en-US" sz="2200" dirty="0"/>
              <a:t>To address this issue, a </a:t>
            </a:r>
            <a:r>
              <a:rPr lang="en-US" sz="2200" b="1" dirty="0"/>
              <a:t>centralized digital platform</a:t>
            </a:r>
            <a:r>
              <a:rPr lang="en-US" sz="2200" dirty="0"/>
              <a:t> is proposed to connect donors, recipients, and hospitals efficiently.</a:t>
            </a:r>
          </a:p>
          <a:p>
            <a:endParaRPr lang="en-US" sz="24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 Objectives:         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</a:rPr>
              <a:t>Build a </a:t>
            </a:r>
            <a:r>
              <a:rPr lang="en-US" altLang="en-US" b="1" dirty="0">
                <a:solidFill>
                  <a:schemeClr val="tx1"/>
                </a:solidFill>
              </a:rPr>
              <a:t>central donor–recipient network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Reduce donor search time</a:t>
            </a:r>
            <a:r>
              <a:rPr lang="en-US" altLang="en-US" dirty="0">
                <a:solidFill>
                  <a:schemeClr val="tx1"/>
                </a:solidFill>
              </a:rPr>
              <a:t> and response delays.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</a:rPr>
              <a:t>Maintain </a:t>
            </a:r>
            <a:r>
              <a:rPr lang="en-US" altLang="en-US" b="1" dirty="0">
                <a:solidFill>
                  <a:schemeClr val="tx1"/>
                </a:solidFill>
              </a:rPr>
              <a:t>real-time blood and organ availability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</a:rPr>
              <a:t>Encourage voluntary donations</a:t>
            </a:r>
            <a:r>
              <a:rPr lang="en-US" altLang="en-US" dirty="0">
                <a:solidFill>
                  <a:schemeClr val="tx1"/>
                </a:solidFill>
              </a:rPr>
              <a:t> through awareness.</a:t>
            </a:r>
          </a:p>
          <a:p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E0C20-15D1-DDBD-DCC6-D65E7E43E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8668-EE8F-A463-EA23-4EF5B4628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1C7F-6DC4-4FAF-5735-4701D95A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Methodology/Architecture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9BC7-D95A-5EF0-7D6C-4D18D1E1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1386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400" dirty="0"/>
              <a:t> The system includes several modules such as user registration, database management, matching algorithm, notification system, and admin dashboard. The system architecture allows donors and patients to be connected through a centralized database with a matching engine that calculates compatibility scores based on medical and geographical data.</a:t>
            </a:r>
          </a:p>
          <a:p>
            <a:r>
              <a:rPr lang="en-IN" sz="2400" dirty="0"/>
              <a:t> </a:t>
            </a:r>
          </a:p>
          <a:p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AAFBD-50CF-13B0-235B-55B407F3B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2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0D6A-972F-0BF1-14BB-0211D0D1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Program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39546D1-C89C-BC79-25D2-D92DC578D6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992" y="1920284"/>
            <a:ext cx="4937125" cy="3870916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06DB01-21BE-DD26-139C-9A207760F3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20284"/>
            <a:ext cx="4938712" cy="3870916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820061-9BC5-A162-D53F-254562D55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D99160-2A88-ABA2-FC57-70E6B898BE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" y="996944"/>
            <a:ext cx="5161598" cy="486411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0A0E0E1-5893-EFB1-0A0D-B808E6E584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358" y="996944"/>
            <a:ext cx="4937125" cy="486411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01452-5FBD-B009-20FD-8D81AFC0A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1" y="122549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1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29C99EE-90EB-84CF-F9FA-B479637974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718" y="1100846"/>
            <a:ext cx="4937125" cy="4768248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E2F3125-1B36-F7F0-29DE-2E806A015E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006" y="1100845"/>
            <a:ext cx="4938712" cy="4768249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0FD18E-0130-8757-5CC3-B4C31A573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1" y="122549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0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3FDD-F70A-6F38-2353-472B0396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934377-F5BA-1EC3-D857-D89BE5374C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" y="1273387"/>
            <a:ext cx="9977120" cy="431122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BDA5A9-FB17-65EE-4C1C-63F7D635C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1" y="122549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1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B76D-4006-84AE-B51A-42DB315C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Results ( Input and Output )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40E205-6290-B9B5-7117-419FC077FD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06399"/>
            <a:ext cx="4938712" cy="3702032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861ECFA-BFAD-55E9-0BE5-93928ECE9C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555" y="2006398"/>
            <a:ext cx="4937125" cy="370203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018125-7110-281C-5DE2-131F5512D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1" y="122549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6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4AFD-9596-033A-5B0A-BB0D49F9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Web Application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40AAE-D7E1-1F8F-1085-3A67DE8D3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38" y="2416085"/>
            <a:ext cx="8277860" cy="38896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516CE0-F89B-3F08-8F28-88F887BC24A0}"/>
              </a:ext>
            </a:extLst>
          </p:cNvPr>
          <p:cNvSpPr/>
          <p:nvPr/>
        </p:nvSpPr>
        <p:spPr>
          <a:xfrm>
            <a:off x="3992739" y="1892865"/>
            <a:ext cx="370442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 webpage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EFF58-7CD0-4930-CB8D-5C86614F6FB2}"/>
              </a:ext>
            </a:extLst>
          </p:cNvPr>
          <p:cNvSpPr/>
          <p:nvPr/>
        </p:nvSpPr>
        <p:spPr>
          <a:xfrm>
            <a:off x="3391381" y="1875099"/>
            <a:ext cx="5000265" cy="540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8CD845-0702-BC89-E3A9-48741DB6F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1" y="122549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0082-CACF-BCE7-56D8-822939C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928466-3831-3342-6C32-C8AC92FBF3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661" y="1990846"/>
            <a:ext cx="4149138" cy="4355602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58B5AE-273F-716C-EE85-43655CCF68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711" y="2484001"/>
            <a:ext cx="3644929" cy="355448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862E48-8F4C-8AD7-88B9-EBE09224F91B}"/>
              </a:ext>
            </a:extLst>
          </p:cNvPr>
          <p:cNvSpPr txBox="1"/>
          <p:nvPr/>
        </p:nvSpPr>
        <p:spPr>
          <a:xfrm>
            <a:off x="1979271" y="2083443"/>
            <a:ext cx="328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    Login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FE894-63EA-8749-2452-15AB64A77BF9}"/>
              </a:ext>
            </a:extLst>
          </p:cNvPr>
          <p:cNvSpPr txBox="1"/>
          <p:nvPr/>
        </p:nvSpPr>
        <p:spPr>
          <a:xfrm>
            <a:off x="7868470" y="2083443"/>
            <a:ext cx="328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Register Page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49A1F0-C13C-4A57-8A38-716298487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1" y="122549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9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12821-257C-BD90-6281-88E449DA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4A6425B-20C4-8F11-A807-70BD366EEBA6}"/>
              </a:ext>
            </a:extLst>
          </p:cNvPr>
          <p:cNvSpPr txBox="1"/>
          <p:nvPr/>
        </p:nvSpPr>
        <p:spPr>
          <a:xfrm>
            <a:off x="1898703" y="876468"/>
            <a:ext cx="328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Register as Donor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D5CBD5-0497-471D-0E23-41E645C58C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814" y="2037952"/>
            <a:ext cx="4938712" cy="3737815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C70B63F-D65D-C9D1-03B5-670CB0CEF6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054" y="2037953"/>
            <a:ext cx="4937125" cy="344844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68C2B1-903B-5538-B7B0-8919A22B3C90}"/>
              </a:ext>
            </a:extLst>
          </p:cNvPr>
          <p:cNvSpPr txBox="1"/>
          <p:nvPr/>
        </p:nvSpPr>
        <p:spPr>
          <a:xfrm>
            <a:off x="7517055" y="876469"/>
            <a:ext cx="328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Register as Patient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388079-7AB6-D3CA-4FF9-ABD563B026D6}"/>
              </a:ext>
            </a:extLst>
          </p:cNvPr>
          <p:cNvSpPr/>
          <p:nvPr/>
        </p:nvSpPr>
        <p:spPr>
          <a:xfrm>
            <a:off x="1188789" y="673217"/>
            <a:ext cx="4707038" cy="8681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6BFCBB-F1C8-7B16-4A76-1CC58B5E27FD}"/>
              </a:ext>
            </a:extLst>
          </p:cNvPr>
          <p:cNvSpPr/>
          <p:nvPr/>
        </p:nvSpPr>
        <p:spPr>
          <a:xfrm>
            <a:off x="7014258" y="673217"/>
            <a:ext cx="4201610" cy="8681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E31C9B-F2E0-3F17-754B-401B50719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3173" y="0"/>
            <a:ext cx="1312923" cy="62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75DD8-CCC6-59E8-D4CE-B11D1EC33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41" y="1562583"/>
            <a:ext cx="10208871" cy="47456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AD7B01-5E93-DB51-134B-8D3B7B161FF1}"/>
              </a:ext>
            </a:extLst>
          </p:cNvPr>
          <p:cNvSpPr txBox="1"/>
          <p:nvPr/>
        </p:nvSpPr>
        <p:spPr>
          <a:xfrm>
            <a:off x="3184967" y="673316"/>
            <a:ext cx="5822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Compatible Matches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FECAB-C491-5C8D-8692-5F8208F43A9D}"/>
              </a:ext>
            </a:extLst>
          </p:cNvPr>
          <p:cNvSpPr/>
          <p:nvPr/>
        </p:nvSpPr>
        <p:spPr>
          <a:xfrm>
            <a:off x="1990846" y="549797"/>
            <a:ext cx="8021255" cy="619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67F30A-2CF0-4989-EF8B-D62E3D143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174" y="64063"/>
            <a:ext cx="1668096" cy="7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88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369806-2629-5B8D-027E-C3F3AF3A07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42066"/>
            <a:ext cx="4938712" cy="3827029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FC0EAE-6C01-DBF1-04A8-560C5437A1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097005"/>
            <a:ext cx="4937125" cy="377209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F8C4BB-497D-D8C3-70CC-80CD721E0C34}"/>
              </a:ext>
            </a:extLst>
          </p:cNvPr>
          <p:cNvSpPr txBox="1"/>
          <p:nvPr/>
        </p:nvSpPr>
        <p:spPr>
          <a:xfrm>
            <a:off x="6419681" y="342679"/>
            <a:ext cx="5189727" cy="120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Map View of the Donor(Visakhapatnam) and Patient(Mumbai) with the top hospitals across India and the total distance through modes of travel </a:t>
            </a:r>
            <a:r>
              <a:rPr lang="en-IN" dirty="0" err="1"/>
              <a:t>i.e</a:t>
            </a:r>
            <a:r>
              <a:rPr lang="en-IN" dirty="0"/>
              <a:t> air &amp; water along with estimated time for each mode.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3D55AC-D0B8-B1EB-C15A-02139692FEEE}"/>
              </a:ext>
            </a:extLst>
          </p:cNvPr>
          <p:cNvSpPr txBox="1"/>
          <p:nvPr/>
        </p:nvSpPr>
        <p:spPr>
          <a:xfrm>
            <a:off x="1296365" y="527240"/>
            <a:ext cx="4739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Map View of the Donor(Visakhapatnam) and Patient(Mumbai) with the top hospitals across India.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AB2E96-8CE4-FD47-D698-5C5D8FD7CA1D}"/>
              </a:ext>
            </a:extLst>
          </p:cNvPr>
          <p:cNvSpPr/>
          <p:nvPr/>
        </p:nvSpPr>
        <p:spPr>
          <a:xfrm>
            <a:off x="912676" y="276332"/>
            <a:ext cx="5305562" cy="12746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23C4E3-EA8F-55E8-7106-506B66A6C29C}"/>
              </a:ext>
            </a:extLst>
          </p:cNvPr>
          <p:cNvSpPr/>
          <p:nvPr/>
        </p:nvSpPr>
        <p:spPr>
          <a:xfrm>
            <a:off x="6324088" y="272332"/>
            <a:ext cx="5050830" cy="12746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46063D-E811-D6FD-5A10-07CE18573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9324" y="0"/>
            <a:ext cx="854977" cy="4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2BA7-E47D-7424-FA2B-403B5ADD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7EB8B-CF4E-5C97-0B6B-9F862431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400" u="sng" dirty="0">
              <a:latin typeface="Bahnschrift SemiBold" panose="020B0502040204020203" pitchFamily="34" charset="0"/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The National Blood and Organ Donation Network provides a unified digital solution to bridge the gap between donors and recipients. It enhances efficiency, reduces response time, and saves lives. Future versions can include features like GPS-based donor tracking, AI-based compatibility prediction, and mobile app integration for accessibility.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53B85-4F96-9521-14E0-86DD397E4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91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821A-C45A-B32B-27C6-5F1B25C2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32D6B"/>
                </a:solidFill>
              </a:rPr>
              <a:t>References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F16765-0B5D-5F6A-EB4B-5552BB492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[1]  https://www.nhp.gov.in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[2]  //www.who.int/health-topics/blood-safety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[3]  https://www.geeksforgeeks.org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614B9-2823-7081-C405-FF37D8080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90" y="122549"/>
            <a:ext cx="1941235" cy="9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9516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EAF4D7"/>
      </a:accent1>
      <a:accent2>
        <a:srgbClr val="C1DF87"/>
      </a:accent2>
      <a:accent3>
        <a:srgbClr val="A8E2C5"/>
      </a:accent3>
      <a:accent4>
        <a:srgbClr val="7DD4A8"/>
      </a:accent4>
      <a:accent5>
        <a:srgbClr val="B9E7FC"/>
      </a:accent5>
      <a:accent6>
        <a:srgbClr val="96DBFB"/>
      </a:accent6>
      <a:hlink>
        <a:srgbClr val="6B9F25"/>
      </a:hlink>
      <a:folHlink>
        <a:srgbClr val="FDC97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417</TotalTime>
  <Words>505</Words>
  <Application>Microsoft Office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Bahnschrift SemiBold</vt:lpstr>
      <vt:lpstr>Calibri</vt:lpstr>
      <vt:lpstr>Calibri Light</vt:lpstr>
      <vt:lpstr>Candara</vt:lpstr>
      <vt:lpstr>Candera</vt:lpstr>
      <vt:lpstr>Wingdings</vt:lpstr>
      <vt:lpstr>Retrospect</vt:lpstr>
      <vt:lpstr>  24CSEN2001 : DATA STRUCTURES LAB    CASE STUDY  </vt:lpstr>
      <vt:lpstr>Batch Number - 10</vt:lpstr>
      <vt:lpstr>Abstract</vt:lpstr>
      <vt:lpstr>Introduction:</vt:lpstr>
      <vt:lpstr>Methodology/Architecture</vt:lpstr>
      <vt:lpstr>Program</vt:lpstr>
      <vt:lpstr>PowerPoint Presentation</vt:lpstr>
      <vt:lpstr>PowerPoint Presentation</vt:lpstr>
      <vt:lpstr>PowerPoint Presentation</vt:lpstr>
      <vt:lpstr>Results ( Input and Output ) </vt:lpstr>
      <vt:lpstr>Web Application Results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Likhita B</dc:creator>
  <cp:lastModifiedBy>Likhita B</cp:lastModifiedBy>
  <cp:revision>4</cp:revision>
  <dcterms:created xsi:type="dcterms:W3CDTF">2025-04-08T07:42:50Z</dcterms:created>
  <dcterms:modified xsi:type="dcterms:W3CDTF">2025-11-05T06:02:37Z</dcterms:modified>
</cp:coreProperties>
</file>